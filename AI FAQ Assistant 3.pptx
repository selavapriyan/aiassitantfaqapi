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8" r:id="rId9"/>
    <p:sldId id="264" r:id="rId10"/>
    <p:sldId id="263" r:id="rId11"/>
    <p:sldId id="265" r:id="rId12"/>
    <p:sldId id="262" r:id="rId13"/>
    <p:sldId id="266" r:id="rId14"/>
    <p:sldId id="267" r:id="rId15"/>
    <p:sldId id="269" r:id="rId16"/>
    <p:sldId id="270" r:id="rId17"/>
    <p:sldId id="271" r:id="rId18"/>
    <p:sldId id="272" r:id="rId19"/>
    <p:sldId id="273" r:id="rId20"/>
    <p:sldId id="275"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4" d="100"/>
          <a:sy n="64" d="100"/>
        </p:scale>
        <p:origin x="-724" y="-68"/>
      </p:cViewPr>
      <p:guideLst>
        <p:guide orient="horz" pos="2160"/>
        <p:guide pos="38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43F8F5-4763-4C94-B25B-37D302718B1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43F8F5-4763-4C94-B25B-37D302718B1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3F8F5-4763-4C94-B25B-37D302718B1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br>
              <a:rPr lang="en-US" sz="2000" dirty="0"/>
            </a:br>
            <a:r>
              <a:rPr lang="en-US" sz="2000" dirty="0"/>
              <a:t>         </a:t>
            </a:r>
            <a:r>
              <a:rPr lang="en-US" altLang="en-US" sz="2000" dirty="0"/>
              <a:t>T</a:t>
            </a:r>
            <a:r>
              <a:rPr lang="en-IN" altLang="en-US" sz="2000" dirty="0"/>
              <a:t>EAM LEADER </a:t>
            </a:r>
            <a:r>
              <a:rPr lang="en-US" altLang="en-US" sz="2000" dirty="0"/>
              <a:t>: SELVAPRIYA N</a:t>
            </a:r>
            <a:br>
              <a:rPr lang="en-US" altLang="en-US" sz="2000" dirty="0"/>
            </a:br>
            <a:r>
              <a:rPr lang="en-US" altLang="en-US" sz="2000" dirty="0"/>
              <a:t>T</a:t>
            </a:r>
            <a:r>
              <a:rPr lang="en-IN" altLang="en-US" sz="2000" dirty="0"/>
              <a:t>EAM MEMBER</a:t>
            </a:r>
            <a:r>
              <a:rPr lang="en-US" altLang="en-US" sz="2000" dirty="0"/>
              <a:t> : SATHYA V</a:t>
            </a:r>
            <a:br>
              <a:rPr lang="en-US" altLang="en-US" sz="2000" dirty="0"/>
            </a:br>
            <a:r>
              <a:rPr lang="en-IN" altLang="en-US" sz="2000" dirty="0"/>
              <a:t>          </a:t>
            </a:r>
            <a:r>
              <a:rPr lang="en-US" altLang="en-US" sz="2000" dirty="0"/>
              <a:t>T</a:t>
            </a:r>
            <a:r>
              <a:rPr lang="en-IN" altLang="en-US" sz="2000" dirty="0"/>
              <a:t>EAM MEMBER</a:t>
            </a:r>
            <a:r>
              <a:rPr lang="en-US" altLang="en-US" sz="2000" dirty="0"/>
              <a:t> : SELVAKUMARI V</a:t>
            </a:r>
            <a:br>
              <a:rPr lang="en-US" altLang="en-US" sz="2000" dirty="0"/>
            </a:br>
            <a:r>
              <a:rPr lang="en-IN" altLang="en-US" sz="2000" dirty="0"/>
              <a:t>   </a:t>
            </a:r>
            <a:r>
              <a:rPr lang="en-US" altLang="en-US" sz="2000" dirty="0"/>
              <a:t>T</a:t>
            </a:r>
            <a:r>
              <a:rPr lang="en-IN" altLang="en-US" sz="2000" dirty="0"/>
              <a:t>EAM MEMBER</a:t>
            </a:r>
            <a:r>
              <a:rPr lang="en-US" altLang="en-US" sz="2000" dirty="0"/>
              <a:t> : S</a:t>
            </a:r>
            <a:r>
              <a:rPr lang="en-IN" altLang="en-US" sz="2000" dirty="0"/>
              <a:t>ELVAMANI S</a:t>
            </a:r>
            <a:br>
              <a:rPr lang="en-US" altLang="en-US" sz="2000" dirty="0"/>
            </a:br>
            <a:r>
              <a:rPr lang="en-US" altLang="en-US" sz="2000" dirty="0"/>
              <a:t>T</a:t>
            </a:r>
            <a:r>
              <a:rPr lang="en-IN" altLang="en-US" sz="2000" dirty="0"/>
              <a:t>EAM MEMBER</a:t>
            </a:r>
            <a:r>
              <a:rPr lang="en-US" altLang="en-US" sz="2000" dirty="0"/>
              <a:t> : SELVI R</a:t>
            </a:r>
            <a:endParaRPr lang="en-US" altLang="en-US" sz="2000" dirty="0"/>
          </a:p>
        </p:txBody>
      </p:sp>
      <p:sp>
        <p:nvSpPr>
          <p:cNvPr id="3" name="Subtitle 2"/>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endParaRPr lang="en-US" sz="2000" b="1" dirty="0"/>
          </a:p>
          <a:p>
            <a:r>
              <a:rPr lang="en-US" sz="2000" b="1" dirty="0"/>
              <a:t>AI FAQ ASSITANT:FASTER,SMARTER,CUSTOMER SUPPORT</a:t>
            </a:r>
            <a:endParaRPr lang="en-US" sz="2000" b="1" dirty="0"/>
          </a:p>
          <a:p>
            <a:pPr algn="l"/>
            <a:r>
              <a:rPr lang="en-IN" b="1" dirty="0"/>
              <a:t>Description:</a:t>
            </a:r>
            <a:endParaRPr lang="en-IN" b="1" dirty="0"/>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endParaRPr lang="en-IN" sz="1900" dirty="0"/>
          </a:p>
          <a:p>
            <a:pPr algn="l"/>
            <a:endParaRPr lang="en-I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endParaRPr lang="en-IN" b="1"/>
          </a:p>
          <a:p>
            <a:pPr rtl="0">
              <a:buNone/>
            </a:pPr>
            <a:endParaRPr lang="en-IN" b="1"/>
          </a:p>
          <a:p>
            <a:r>
              <a:rPr lang="en-IN"/>
              <a:t>                 </a:t>
            </a:r>
            <a:r>
              <a:rPr lang="en-IN" b="1"/>
              <a:t>Background:</a:t>
            </a:r>
            <a:endParaRPr lang="en-IN" b="1"/>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endParaRPr lang="en-IN"/>
          </a:p>
          <a:p>
            <a:r>
              <a:rPr lang="en-IN" b="1"/>
              <a:t>Problem:</a:t>
            </a:r>
            <a:endParaRPr lang="en-IN" b="1"/>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endParaRPr lang="en-IN"/>
          </a:p>
          <a:p>
            <a:r>
              <a:rPr lang="en-IN" b="1"/>
              <a:t>Solution:</a:t>
            </a:r>
            <a:endParaRPr lang="en-IN" b="1"/>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endParaRPr lang="en-IN"/>
          </a:p>
          <a:p>
            <a:pPr algn="just" rtl="0">
              <a:buNone/>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8296" y="972656"/>
            <a:ext cx="9242323" cy="4247317"/>
          </a:xfrm>
          <a:prstGeom prst="rect">
            <a:avLst/>
          </a:prstGeom>
          <a:noFill/>
        </p:spPr>
        <p:txBody>
          <a:bodyPr wrap="square">
            <a:spAutoFit/>
          </a:bodyPr>
          <a:lstStyle/>
          <a:p>
            <a:r>
              <a:rPr lang="en-IN" sz="1800" b="1" dirty="0"/>
              <a:t>Usage:</a:t>
            </a:r>
            <a:endParaRPr lang="en-IN" sz="1800" b="1" dirty="0"/>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endParaRPr lang="en-IN" sz="1800" dirty="0"/>
          </a:p>
          <a:p>
            <a:endParaRPr lang="en-IN" sz="1800" dirty="0"/>
          </a:p>
          <a:p>
            <a:r>
              <a:rPr lang="en-IN" sz="1800" b="1" dirty="0"/>
              <a:t>Outcome:</a:t>
            </a:r>
            <a:endParaRPr lang="en-IN" sz="1800" b="1" dirty="0"/>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Keyboard and Mouse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912622"/>
            <a:ext cx="6096000" cy="5355312"/>
          </a:xfrm>
          <a:prstGeom prst="rect">
            <a:avLst/>
          </a:prstGeom>
          <a:noFill/>
        </p:spPr>
        <p:txBody>
          <a:bodyPr wrap="square">
            <a:spAutoFit/>
          </a:bodyPr>
          <a:lstStyle/>
          <a:p>
            <a:r>
              <a:rPr lang="en-IN" b="1"/>
              <a:t>Epic 1: PROJECT ARCHITECTURE</a:t>
            </a:r>
            <a:endParaRPr lang="en-IN" b="1"/>
          </a:p>
          <a:p>
            <a:r>
              <a:rPr lang="en-IN"/>
              <a:t> USER</a:t>
            </a:r>
            <a:endParaRPr lang="en-IN"/>
          </a:p>
          <a:p>
            <a:r>
              <a:rPr lang="en-IN"/>
              <a:t>          ↓</a:t>
            </a:r>
            <a:endParaRPr lang="en-IN"/>
          </a:p>
          <a:p>
            <a:r>
              <a:rPr lang="en-IN"/>
              <a:t>   Chat Interface</a:t>
            </a:r>
            <a:endParaRPr lang="en-IN"/>
          </a:p>
          <a:p>
            <a:r>
              <a:rPr lang="en-IN"/>
              <a:t>          ↓</a:t>
            </a:r>
            <a:endParaRPr lang="en-IN"/>
          </a:p>
          <a:p>
            <a:r>
              <a:rPr lang="en-IN"/>
              <a:t>    Backend Server</a:t>
            </a:r>
            <a:endParaRPr lang="en-IN"/>
          </a:p>
          <a:p>
            <a:r>
              <a:rPr lang="en-IN"/>
              <a:t>          ↓</a:t>
            </a:r>
            <a:endParaRPr lang="en-IN"/>
          </a:p>
          <a:p>
            <a:r>
              <a:rPr lang="en-IN"/>
              <a:t>   Query Processing</a:t>
            </a:r>
            <a:endParaRPr lang="en-IN"/>
          </a:p>
          <a:p>
            <a:r>
              <a:rPr lang="en-IN"/>
              <a:t>          ↓</a:t>
            </a:r>
            <a:endParaRPr lang="en-IN"/>
          </a:p>
          <a:p>
            <a:r>
              <a:rPr lang="en-IN"/>
              <a:t>   NLP / AI Engine</a:t>
            </a:r>
            <a:endParaRPr lang="en-IN"/>
          </a:p>
          <a:p>
            <a:r>
              <a:rPr lang="en-IN"/>
              <a:t>          ↓</a:t>
            </a:r>
            <a:endParaRPr lang="en-IN"/>
          </a:p>
          <a:p>
            <a:r>
              <a:rPr lang="en-IN"/>
              <a:t>   FAQ Knowledge Base</a:t>
            </a:r>
            <a:endParaRPr lang="en-IN"/>
          </a:p>
          <a:p>
            <a:r>
              <a:rPr lang="en-IN"/>
              <a:t>          ↓</a:t>
            </a:r>
            <a:endParaRPr lang="en-IN"/>
          </a:p>
          <a:p>
            <a:r>
              <a:rPr lang="en-IN"/>
              <a:t>   Answer Generation</a:t>
            </a:r>
            <a:endParaRPr lang="en-IN"/>
          </a:p>
          <a:p>
            <a:r>
              <a:rPr lang="en-IN"/>
              <a:t>          ↓</a:t>
            </a:r>
            <a:endParaRPr lang="en-IN"/>
          </a:p>
          <a:p>
            <a:r>
              <a:rPr lang="en-IN"/>
              <a:t>    Response to User</a:t>
            </a:r>
            <a:endParaRPr lang="en-IN"/>
          </a:p>
          <a:p>
            <a:r>
              <a:rPr lang="en-IN"/>
              <a:t>          ↓</a:t>
            </a:r>
            <a:endParaRPr lang="en-IN"/>
          </a:p>
          <a:p>
            <a:r>
              <a:rPr lang="en-IN"/>
              <a:t>   Human Support Agent</a:t>
            </a:r>
            <a:endParaRPr lang="en-IN"/>
          </a:p>
          <a:p>
            <a:r>
              <a:rPr lang="en-IN"/>
              <a:t>   (if required)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endParaRPr lang="en-IN" b="1"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endParaRPr lang="en-IN" b="0" i="0">
              <a:solidFill>
                <a:schemeClr val="tx1"/>
              </a:solidFill>
              <a:effectLst/>
              <a:latin typeface="+mn-lt"/>
            </a:endParaRPr>
          </a:p>
          <a:p>
            <a:pPr>
              <a:buNone/>
            </a:pPr>
            <a:br>
              <a:rPr lang="en-IN"/>
            </a:b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00" y="0"/>
            <a:ext cx="10287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endParaRPr lang="en-IN" b="1" i="0">
              <a:solidFill>
                <a:schemeClr val="tx1"/>
              </a:solidFill>
              <a:effectLst/>
              <a:latin typeface="+mn-lt"/>
            </a:endParaRP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p:cNvGraphicFramePr>
            <a:graphicFrameLocks noGrp="1"/>
          </p:cNvGraphicFramePr>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tr>
              <a:tr h="370840">
                <a:tc>
                  <a:txBody>
                    <a:bodyPr/>
                    <a:lstStyle/>
                    <a:p>
                      <a:r>
                        <a:rPr lang="en-US"/>
                        <a:t>             User</a:t>
                      </a:r>
                      <a:endParaRPr lang="en-US"/>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tr>
              <a:tr h="370840">
                <a:tc>
                  <a:txBody>
                    <a:bodyPr/>
                    <a:lstStyle/>
                    <a:p>
                      <a:r>
                        <a:rPr lang="en-US"/>
                        <a:t>          Query</a:t>
                      </a:r>
                      <a:endParaRPr lang="en-US"/>
                    </a:p>
                  </a:txBody>
                  <a:tcPr/>
                </a:tc>
                <a:tc>
                  <a:txBody>
                    <a:bodyPr/>
                    <a:lstStyle/>
                    <a:p>
                      <a:r>
                        <a:rPr lang="en-US" err="1"/>
                        <a:t>Query_id</a:t>
                      </a:r>
                      <a:r>
                        <a:rPr lang="en-US"/>
                        <a:t>(PK),</a:t>
                      </a:r>
                      <a:r>
                        <a:rPr lang="en-US" err="1"/>
                        <a:t>user_id</a:t>
                      </a:r>
                      <a:r>
                        <a:rPr lang="en-US"/>
                        <a:t>(FK),question</a:t>
                      </a:r>
                      <a:endParaRPr lang="en-US"/>
                    </a:p>
                  </a:txBody>
                  <a:tcPr/>
                </a:tc>
                <a:tc>
                  <a:txBody>
                    <a:bodyPr/>
                    <a:lstStyle/>
                    <a:p>
                      <a:r>
                        <a:rPr lang="en-US"/>
                        <a:t>Query belongs to a User</a:t>
                      </a:r>
                      <a:endParaRPr lang="en-IN"/>
                    </a:p>
                  </a:txBody>
                  <a:tcPr/>
                </a:tc>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40774" y="91143"/>
            <a:ext cx="11051458" cy="2585323"/>
          </a:xfrm>
          <a:prstGeom prst="rect">
            <a:avLst/>
          </a:prstGeom>
          <a:noFill/>
        </p:spPr>
        <p:txBody>
          <a:bodyPr wrap="square">
            <a:spAutoFit/>
          </a:bodyPr>
          <a:lstStyle/>
          <a:p>
            <a:r>
              <a:rPr lang="en-IN" b="1"/>
              <a:t>Key Features:</a:t>
            </a:r>
            <a:endParaRPr lang="en-IN" b="1"/>
          </a:p>
          <a:p>
            <a:r>
              <a:rPr lang="en-IN" b="1"/>
              <a:t>        AI-Powered Responses</a:t>
            </a:r>
            <a:r>
              <a:rPr lang="en-IN"/>
              <a:t> – Automatically understands customer questions and provides relevant answers.</a:t>
            </a:r>
            <a:endParaRPr lang="en-IN"/>
          </a:p>
          <a:p>
            <a:pPr lvl="0"/>
            <a:r>
              <a:rPr lang="en-IN" b="1"/>
              <a:t>       24/7 Availability</a:t>
            </a:r>
            <a:r>
              <a:rPr lang="en-IN"/>
              <a:t> – Provides customer support at any time.</a:t>
            </a:r>
            <a:endParaRPr lang="en-IN"/>
          </a:p>
          <a:p>
            <a:pPr lvl="0"/>
            <a:r>
              <a:rPr lang="en-IN" b="1"/>
              <a:t>       Natural Language Processing</a:t>
            </a:r>
            <a:r>
              <a:rPr lang="en-IN"/>
              <a:t> – Understands questions written in normal human language.</a:t>
            </a:r>
            <a:endParaRPr lang="en-IN"/>
          </a:p>
          <a:p>
            <a:pPr lvl="0"/>
            <a:r>
              <a:rPr lang="en-IN" b="1"/>
              <a:t>        Instant FAQ Search</a:t>
            </a:r>
            <a:r>
              <a:rPr lang="en-IN"/>
              <a:t> – Quickly searches the FAQ knowledge base for suitable answers.</a:t>
            </a:r>
            <a:endParaRPr lang="en-IN"/>
          </a:p>
          <a:p>
            <a:pPr lvl="0"/>
            <a:r>
              <a:rPr lang="en-IN" b="1"/>
              <a:t>       User-Friendly Chat Interface</a:t>
            </a:r>
            <a:r>
              <a:rPr lang="en-IN"/>
              <a:t> – Allows customers to interact easily through a simple chat system.</a:t>
            </a:r>
            <a:endParaRPr lang="en-IN"/>
          </a:p>
          <a:p>
            <a:pPr lvl="0"/>
            <a:r>
              <a:rPr lang="en-IN" b="1"/>
              <a:t>       Human Agent Support</a:t>
            </a:r>
            <a:r>
              <a:rPr lang="en-IN"/>
              <a:t> – Transfers complex or unanswered queries to a support agent.</a:t>
            </a:r>
            <a:endParaRPr lang="en-IN"/>
          </a:p>
          <a:p>
            <a:br>
              <a:rPr lang="en-IN"/>
            </a:br>
            <a:endParaRPr lang="en-IN"/>
          </a:p>
        </p:txBody>
      </p:sp>
      <p:sp>
        <p:nvSpPr>
          <p:cNvPr id="16" name="TextBox 15"/>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endParaRPr lang="en-IN" sz="1800" b="0" i="0">
              <a:solidFill>
                <a:schemeClr val="tx1"/>
              </a:solidFill>
              <a:effectLst/>
              <a:latin typeface="+mn-lt"/>
            </a:endParaRPr>
          </a:p>
          <a:p>
            <a:pPr indent="0" algn="l" rtl="0">
              <a:buNone/>
            </a:pPr>
            <a:r>
              <a:rPr lang="en-IN" b="1" i="0">
                <a:solidFill>
                  <a:schemeClr val="tx1"/>
                </a:solidFill>
                <a:effectLst/>
                <a:latin typeface="+mn-lt"/>
              </a:rPr>
              <a:t>4. Support Agent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endParaRPr lang="en-IN" b="1"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43833" y="0"/>
            <a:ext cx="7504334"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endParaRPr lang="en-IN" sz="1800" b="1">
              <a:solidFill>
                <a:schemeClr val="bg1">
                  <a:lumMod val="95000"/>
                </a:schemeClr>
              </a:solidFill>
            </a:endParaRPr>
          </a:p>
          <a:p>
            <a:r>
              <a:rPr lang="en-IN" sz="1800">
                <a:solidFill>
                  <a:schemeClr val="bg1">
                    <a:lumMod val="95000"/>
                  </a:schemeClr>
                </a:solidFill>
              </a:rPr>
              <a:t>Ask FAQ / Customer Question</a:t>
            </a:r>
            <a:endParaRPr lang="en-IN" sz="1800">
              <a:solidFill>
                <a:schemeClr val="bg1">
                  <a:lumMod val="95000"/>
                </a:schemeClr>
              </a:solidFill>
            </a:endParaRPr>
          </a:p>
        </p:txBody>
      </p:sp>
      <p:sp>
        <p:nvSpPr>
          <p:cNvPr id="12" name="Arrow: Right 11"/>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endParaRPr lang="en-IN" sz="1800" b="1" i="0">
              <a:solidFill>
                <a:schemeClr val="bg1">
                  <a:lumMod val="95000"/>
                </a:schemeClr>
              </a:solidFill>
              <a:effectLst/>
              <a:latin typeface="+mn-lt"/>
            </a:endParaRP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endParaRPr lang="en-IN" sz="1800" b="1" i="0">
              <a:solidFill>
                <a:schemeClr val="bg1"/>
              </a:solidFill>
              <a:effectLst/>
              <a:latin typeface="+mn-lt"/>
            </a:endParaRP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endParaRPr lang="en-IN" b="1"/>
          </a:p>
          <a:p>
            <a:r>
              <a:rPr lang="en-IN"/>
              <a:t>Questions • Answers • Categories</a:t>
            </a:r>
            <a:endParaRPr lang="en-IN"/>
          </a:p>
        </p:txBody>
      </p:sp>
      <p:sp>
        <p:nvSpPr>
          <p:cNvPr id="20" name="Rectangle: Rounded Corners 19"/>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endParaRPr lang="en-IN" b="1"/>
          </a:p>
          <a:p>
            <a:r>
              <a:rPr lang="en-IN"/>
              <a:t>Understand User Query</a:t>
            </a:r>
            <a:endParaRPr lang="en-IN"/>
          </a:p>
        </p:txBody>
      </p:sp>
      <p:sp>
        <p:nvSpPr>
          <p:cNvPr id="21" name="Rectangle: Rounded Corners 20"/>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endParaRPr lang="en-IN" b="1"/>
          </a:p>
          <a:p>
            <a:r>
              <a:rPr lang="en-IN"/>
              <a:t>Find Relevant FAQ</a:t>
            </a:r>
            <a:endParaRPr lang="en-IN"/>
          </a:p>
        </p:txBody>
      </p:sp>
      <p:sp>
        <p:nvSpPr>
          <p:cNvPr id="22" name="Rectangle: Rounded Corners 21"/>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endParaRPr lang="en-IN" b="1"/>
          </a:p>
          <a:p>
            <a:r>
              <a:rPr lang="en-IN"/>
              <a:t>                                              Generate Accurate &amp; User-Friendly Answer</a:t>
            </a:r>
            <a:endParaRPr lang="en-IN"/>
          </a:p>
        </p:txBody>
      </p:sp>
      <p:sp>
        <p:nvSpPr>
          <p:cNvPr id="23" name="Rectangle: Rounded Corners 22"/>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endParaRPr lang="en-IN" b="1"/>
          </a:p>
          <a:p>
            <a:r>
              <a:rPr lang="en-IN"/>
              <a:t>                                  Response displayed to the user</a:t>
            </a:r>
            <a:endParaRPr lang="en-IN"/>
          </a:p>
        </p:txBody>
      </p:sp>
      <p:cxnSp>
        <p:nvCxnSpPr>
          <p:cNvPr id="25" name="Straight Arrow Connector 24"/>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endParaRPr lang="en-IN"/>
          </a:p>
        </p:txBody>
      </p:sp>
      <p:sp>
        <p:nvSpPr>
          <p:cNvPr id="5" name="TextBox 4"/>
          <p:cNvSpPr txBox="1"/>
          <p:nvPr/>
        </p:nvSpPr>
        <p:spPr>
          <a:xfrm>
            <a:off x="558800" y="482939"/>
            <a:ext cx="8036560" cy="1467782"/>
          </a:xfrm>
          <a:prstGeom prst="rect">
            <a:avLst/>
          </a:prstGeom>
          <a:noFill/>
        </p:spPr>
        <p:txBody>
          <a:bodyPr wrap="square">
            <a:spAutoFit/>
          </a:bodyPr>
          <a:lstStyle/>
          <a:p>
            <a:pPr>
              <a:buNone/>
            </a:pPr>
            <a:r>
              <a:rPr lang="en-IN" b="1"/>
              <a:t>2.1 Create Project Folder</a:t>
            </a:r>
            <a:endParaRPr lang="en-IN" b="1"/>
          </a:p>
          <a:p>
            <a:pPr marL="342900" lvl="0" indent="-342900">
              <a:buFont typeface="+mj-lt"/>
              <a:buAutoNum type="arabicPeriod"/>
            </a:pPr>
            <a:r>
              <a:rPr lang="en-IN"/>
              <a:t>Create the main project folder named </a:t>
            </a:r>
            <a:r>
              <a:rPr lang="en-IN" b="1"/>
              <a:t>AI FAQ Assistant API</a:t>
            </a:r>
            <a:r>
              <a:rPr lang="en-IN"/>
              <a:t>. </a:t>
            </a:r>
            <a:endParaRPr lang="en-IN"/>
          </a:p>
          <a:p>
            <a:pPr marL="342900" lvl="0" indent="-342900">
              <a:buFont typeface="+mj-lt"/>
              <a:buAutoNum type="arabicPeriod"/>
            </a:pPr>
            <a:r>
              <a:rPr lang="en-IN"/>
              <a:t>Create separate folders for </a:t>
            </a:r>
            <a:r>
              <a:rPr lang="en-IN" b="1"/>
              <a:t>Frontend, Backend, Database, and Documentation</a:t>
            </a:r>
            <a:r>
              <a:rPr lang="en-IN"/>
              <a:t>. </a:t>
            </a:r>
            <a:endParaRPr lang="en-IN"/>
          </a:p>
          <a:p>
            <a:pPr marL="342900" lvl="0" indent="-342900">
              <a:buFont typeface="+mj-lt"/>
              <a:buAutoNum type="arabicPeriod"/>
            </a:pPr>
            <a:r>
              <a:rPr lang="en-IN"/>
              <a:t>Organize all project files and resources in their respective folders.</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endParaRPr lang="en-IN"/>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endParaRPr lang="en-IN"/>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4720" y="225702"/>
            <a:ext cx="7498080" cy="4801314"/>
          </a:xfrm>
          <a:prstGeom prst="rect">
            <a:avLst/>
          </a:prstGeom>
          <a:noFill/>
        </p:spPr>
        <p:txBody>
          <a:bodyPr wrap="square">
            <a:spAutoFit/>
          </a:bodyPr>
          <a:lstStyle/>
          <a:p>
            <a:pPr>
              <a:buNone/>
            </a:pPr>
            <a:r>
              <a:rPr lang="en-IN" b="1"/>
              <a:t>EPIC 3: Backend Development</a:t>
            </a:r>
            <a:endParaRPr lang="en-IN" b="1"/>
          </a:p>
          <a:p>
            <a:pPr>
              <a:buNone/>
            </a:pPr>
            <a:r>
              <a:rPr lang="en-IN" b="1"/>
              <a:t>3.1 Server Configuration</a:t>
            </a:r>
            <a:endParaRPr lang="en-IN" b="1"/>
          </a:p>
          <a:p>
            <a:pPr marL="342900" lvl="0" indent="-342900">
              <a:buFont typeface="+mj-lt"/>
              <a:buAutoNum type="arabicPeriod"/>
            </a:pPr>
            <a:r>
              <a:rPr lang="en-IN"/>
              <a:t>Create and configure the backend server. </a:t>
            </a:r>
            <a:endParaRPr lang="en-IN"/>
          </a:p>
          <a:p>
            <a:pPr marL="342900" lvl="0" indent="-342900">
              <a:buFont typeface="+mj-lt"/>
              <a:buAutoNum type="arabicPeriod"/>
            </a:pPr>
            <a:r>
              <a:rPr lang="en-IN"/>
              <a:t>Install required Node.js packages. </a:t>
            </a:r>
            <a:endParaRPr lang="en-IN"/>
          </a:p>
          <a:p>
            <a:pPr marL="342900" lvl="0" indent="-342900">
              <a:buFont typeface="+mj-lt"/>
              <a:buAutoNum type="arabicPeriod"/>
            </a:pPr>
            <a:r>
              <a:rPr lang="en-IN"/>
              <a:t>Connect the server with the database. </a:t>
            </a:r>
            <a:endParaRPr lang="en-IN"/>
          </a:p>
          <a:p>
            <a:pPr>
              <a:buNone/>
            </a:pPr>
            <a:r>
              <a:rPr lang="en-IN" b="1"/>
              <a:t>3.2 API Development</a:t>
            </a:r>
            <a:endParaRPr lang="en-IN" b="1"/>
          </a:p>
          <a:p>
            <a:pPr marL="342900" lvl="0" indent="-342900">
              <a:buFont typeface="+mj-lt"/>
              <a:buAutoNum type="arabicPeriod"/>
            </a:pPr>
            <a:r>
              <a:rPr lang="en-IN"/>
              <a:t>Create REST API endpoints. </a:t>
            </a:r>
            <a:endParaRPr lang="en-IN"/>
          </a:p>
          <a:p>
            <a:pPr marL="342900" lvl="0" indent="-342900">
              <a:buFont typeface="+mj-lt"/>
              <a:buAutoNum type="arabicPeriod"/>
            </a:pPr>
            <a:r>
              <a:rPr lang="en-IN"/>
              <a:t>Implement FAQ CRUD operations. </a:t>
            </a:r>
            <a:endParaRPr lang="en-IN"/>
          </a:p>
          <a:p>
            <a:pPr marL="342900" lvl="0" indent="-342900">
              <a:buFont typeface="+mj-lt"/>
              <a:buAutoNum type="arabicPeriod"/>
            </a:pPr>
            <a:r>
              <a:rPr lang="en-IN"/>
              <a:t>Handle user requests and API responses. </a:t>
            </a:r>
            <a:endParaRPr lang="en-IN"/>
          </a:p>
          <a:p>
            <a:pPr>
              <a:buNone/>
            </a:pPr>
            <a:r>
              <a:rPr lang="en-IN" b="1"/>
              <a:t>3.3 AI FAQ Integration</a:t>
            </a:r>
            <a:endParaRPr lang="en-IN" b="1"/>
          </a:p>
          <a:p>
            <a:pPr marL="342900" lvl="0" indent="-342900">
              <a:buFont typeface="+mj-lt"/>
              <a:buAutoNum type="arabicPeriod"/>
            </a:pPr>
            <a:r>
              <a:rPr lang="en-IN"/>
              <a:t>Process the user's question. </a:t>
            </a:r>
            <a:endParaRPr lang="en-IN"/>
          </a:p>
          <a:p>
            <a:pPr marL="342900" lvl="0" indent="-342900">
              <a:buFont typeface="+mj-lt"/>
              <a:buAutoNum type="arabicPeriod"/>
            </a:pPr>
            <a:r>
              <a:rPr lang="en-IN"/>
              <a:t>Search for the relevant FAQ. </a:t>
            </a:r>
            <a:endParaRPr lang="en-IN"/>
          </a:p>
          <a:p>
            <a:pPr marL="342900" lvl="0" indent="-342900">
              <a:buFont typeface="+mj-lt"/>
              <a:buAutoNum type="arabicPeriod"/>
            </a:pPr>
            <a:r>
              <a:rPr lang="en-IN"/>
              <a:t>Generate and return the appropriate answer. </a:t>
            </a:r>
            <a:endParaRPr lang="en-IN"/>
          </a:p>
          <a:p>
            <a:pPr>
              <a:buNone/>
            </a:pPr>
            <a:r>
              <a:rPr lang="en-IN" b="1"/>
              <a:t>3.4 Feedback &amp; Like Management</a:t>
            </a:r>
            <a:endParaRPr lang="en-IN" b="1"/>
          </a:p>
          <a:p>
            <a:pPr marL="342900" lvl="0" indent="-342900">
              <a:buFont typeface="+mj-lt"/>
              <a:buAutoNum type="arabicPeriod"/>
            </a:pPr>
            <a:r>
              <a:rPr lang="en-IN"/>
              <a:t>Implement FAQ like functionality. </a:t>
            </a:r>
            <a:endParaRPr lang="en-IN"/>
          </a:p>
          <a:p>
            <a:pPr marL="342900" lvl="0" indent="-342900">
              <a:buFont typeface="+mj-lt"/>
              <a:buAutoNum type="arabicPeriod"/>
            </a:pPr>
            <a:r>
              <a:rPr lang="en-IN"/>
              <a:t>Store answer feedback. </a:t>
            </a:r>
            <a:endParaRPr lang="en-IN"/>
          </a:p>
          <a:p>
            <a:pPr marL="342900" lvl="0" indent="-342900">
              <a:buFont typeface="+mj-lt"/>
              <a:buAutoNum type="arabicPeriod"/>
            </a:pPr>
            <a:r>
              <a:rPr lang="en-IN"/>
              <a:t>Retrieve feedback and rating data.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endParaRPr lang="en-US"/>
          </a:p>
          <a:p>
            <a:r>
              <a:rPr lang="en-US"/>
              <a:t>Database connection</a:t>
            </a:r>
            <a:endParaRPr lang="en-US"/>
          </a:p>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p:cNvSpPr txBox="1"/>
          <p:nvPr/>
        </p:nvSpPr>
        <p:spPr>
          <a:xfrm>
            <a:off x="599440" y="572533"/>
            <a:ext cx="9540240" cy="2031325"/>
          </a:xfrm>
          <a:prstGeom prst="rect">
            <a:avLst/>
          </a:prstGeom>
          <a:noFill/>
        </p:spPr>
        <p:txBody>
          <a:bodyPr wrap="square">
            <a:spAutoFit/>
          </a:bodyPr>
          <a:lstStyle/>
          <a:p>
            <a:r>
              <a:rPr lang="en-IN"/>
              <a:t>Database Configuration</a:t>
            </a:r>
            <a:endParaRPr lang="en-IN"/>
          </a:p>
          <a:p>
            <a:pPr marL="285750" indent="-285750">
              <a:buFont typeface="Arial" panose="020B0604020202020204" pitchFamily="34" charset="0"/>
              <a:buChar char="•"/>
            </a:pPr>
            <a:r>
              <a:rPr lang="en-IN"/>
              <a:t> Create the AI FAQ Assistant database.</a:t>
            </a:r>
            <a:endParaRPr lang="en-IN"/>
          </a:p>
          <a:p>
            <a:pPr marL="285750" indent="-285750">
              <a:buFont typeface="Arial" panose="020B0604020202020204" pitchFamily="34" charset="0"/>
              <a:buChar char="•"/>
            </a:pPr>
            <a:r>
              <a:rPr lang="en-IN"/>
              <a:t>Configure database connection with the API.</a:t>
            </a:r>
            <a:endParaRPr lang="en-IN"/>
          </a:p>
          <a:p>
            <a:pPr marL="285750" indent="-285750">
              <a:buFont typeface="Arial" panose="020B0604020202020204" pitchFamily="34" charset="0"/>
              <a:buChar char="•"/>
            </a:pPr>
            <a:r>
              <a:rPr lang="en-IN"/>
              <a:t> Store database credentials securely using ".env".</a:t>
            </a:r>
            <a:endParaRPr lang="en-IN"/>
          </a:p>
          <a:p>
            <a:pPr marL="285750" indent="-285750">
              <a:buFont typeface="Arial" panose="020B0604020202020204" pitchFamily="34" charset="0"/>
              <a:buChar char="•"/>
            </a:pPr>
            <a:r>
              <a:rPr lang="en-IN"/>
              <a:t>Create tables for User, FAQ, Category, FAQ Like, Answer Feedback, Tag and FAQ Tag.</a:t>
            </a:r>
            <a:endParaRPr lang="en-IN"/>
          </a:p>
          <a:p>
            <a:pPr marL="285750" indent="-285750">
              <a:buFont typeface="Arial" panose="020B0604020202020204" pitchFamily="34" charset="0"/>
              <a:buChar char="•"/>
            </a:pPr>
            <a:r>
              <a:rPr lang="en-IN"/>
              <a:t>Establish relationships between the tables.</a:t>
            </a:r>
            <a:endParaRPr lang="en-IN"/>
          </a:p>
          <a:p>
            <a:pPr marL="285750" indent="-285750">
              <a:buFont typeface="Arial" panose="020B0604020202020204" pitchFamily="34" charset="0"/>
              <a:buChar char="•"/>
            </a:pPr>
            <a:r>
              <a:rPr lang="en-IN"/>
              <a:t>Test the database connection with the backend API.</a:t>
            </a:r>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600" y="0"/>
            <a:ext cx="6096000" cy="2862322"/>
          </a:xfrm>
          <a:prstGeom prst="rect">
            <a:avLst/>
          </a:prstGeom>
          <a:noFill/>
        </p:spPr>
        <p:txBody>
          <a:bodyPr wrap="square">
            <a:spAutoFit/>
          </a:bodyPr>
          <a:lstStyle/>
          <a:p>
            <a:r>
              <a:rPr lang="en-US" b="1"/>
              <a:t>Epic5:Project Execution</a:t>
            </a:r>
            <a:endParaRPr lang="en-US" b="1"/>
          </a:p>
          <a:p>
            <a:endParaRPr lang="en-US"/>
          </a:p>
          <a:p>
            <a:pPr marL="285750" indent="-285750">
              <a:buFont typeface="Arial" panose="020B0604020202020204" pitchFamily="34" charset="0"/>
              <a:buChar char="•"/>
            </a:pPr>
            <a:r>
              <a:rPr lang="en-US"/>
              <a:t>- Set up the project environment and folder structure.</a:t>
            </a:r>
            <a:endParaRPr lang="en-US"/>
          </a:p>
          <a:p>
            <a:pPr marL="285750" indent="-285750">
              <a:buFont typeface="Arial" panose="020B0604020202020204" pitchFamily="34" charset="0"/>
              <a:buChar char="•"/>
            </a:pPr>
            <a:r>
              <a:rPr lang="en-US"/>
              <a:t>- Configure the Node.js server and database.</a:t>
            </a:r>
            <a:endParaRPr lang="en-US"/>
          </a:p>
          <a:p>
            <a:pPr marL="285750" indent="-285750">
              <a:buFont typeface="Arial" panose="020B0604020202020204" pitchFamily="34" charset="0"/>
              <a:buChar char="•"/>
            </a:pPr>
            <a:r>
              <a:rPr lang="en-US"/>
              <a:t>- Develop REST API endpoints for FAQ management.</a:t>
            </a:r>
            <a:endParaRPr lang="en-US"/>
          </a:p>
          <a:p>
            <a:pPr marL="285750" indent="-285750">
              <a:buFont typeface="Arial" panose="020B0604020202020204" pitchFamily="34" charset="0"/>
              <a:buChar char="•"/>
            </a:pPr>
            <a:r>
              <a:rPr lang="en-US"/>
              <a:t>- Implement user, category, tag, like and feedback modules.</a:t>
            </a:r>
            <a:endParaRPr lang="en-US"/>
          </a:p>
          <a:p>
            <a:pPr marL="285750" indent="-285750">
              <a:buFont typeface="Arial" panose="020B0604020202020204" pitchFamily="34" charset="0"/>
              <a:buChar char="•"/>
            </a:pPr>
            <a:r>
              <a:rPr lang="en-US"/>
              <a:t>- Connect the API with the database.</a:t>
            </a:r>
            <a:endParaRPr lang="en-US"/>
          </a:p>
          <a:p>
            <a:pPr marL="285750" indent="-285750">
              <a:buFont typeface="Arial" panose="020B0604020202020204" pitchFamily="34" charset="0"/>
              <a:buChar char="•"/>
            </a:pPr>
            <a:r>
              <a:rPr lang="en-US"/>
              <a:t>- Test API requests and responses using Postman.</a:t>
            </a:r>
            <a:endParaRPr lang="en-US"/>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endParaRPr lang="en-IN"/>
          </a:p>
        </p:txBody>
      </p:sp>
      <p:sp>
        <p:nvSpPr>
          <p:cNvPr id="8" name="TextBox 7"/>
          <p:cNvSpPr txBox="1"/>
          <p:nvPr/>
        </p:nvSpPr>
        <p:spPr>
          <a:xfrm>
            <a:off x="355600" y="4981416"/>
            <a:ext cx="6096000" cy="369332"/>
          </a:xfrm>
          <a:prstGeom prst="rect">
            <a:avLst/>
          </a:prstGeom>
          <a:noFill/>
        </p:spPr>
        <p:txBody>
          <a:bodyPr wrap="square">
            <a:spAutoFit/>
          </a:bodyPr>
          <a:lstStyle/>
          <a:p>
            <a:r>
              <a:rPr lang="en-IN"/>
              <a:t>Start the development server:</a:t>
            </a:r>
            <a:endParaRPr lang="en-IN"/>
          </a:p>
        </p:txBody>
      </p:sp>
      <p:sp>
        <p:nvSpPr>
          <p:cNvPr id="10" name="TextBox 9"/>
          <p:cNvSpPr txBox="1"/>
          <p:nvPr/>
        </p:nvSpPr>
        <p:spPr>
          <a:xfrm>
            <a:off x="508000" y="2967335"/>
            <a:ext cx="6096000" cy="923330"/>
          </a:xfrm>
          <a:prstGeom prst="rect">
            <a:avLst/>
          </a:prstGeom>
          <a:noFill/>
        </p:spPr>
        <p:txBody>
          <a:bodyPr wrap="square">
            <a:spAutoFit/>
          </a:bodyPr>
          <a:lstStyle/>
          <a:p>
            <a:r>
              <a:rPr lang="en-IN"/>
              <a:t>Running the Backend Server</a:t>
            </a:r>
            <a:endParaRPr lang="en-IN"/>
          </a:p>
          <a:p>
            <a:endParaRPr lang="en-IN"/>
          </a:p>
          <a:p>
            <a:r>
              <a:rPr lang="en-IN"/>
              <a:t>install all required dependencies:</a:t>
            </a:r>
            <a:endParaRPr lang="en-IN"/>
          </a:p>
        </p:txBody>
      </p:sp>
      <p:sp>
        <p:nvSpPr>
          <p:cNvPr id="11" name="Rectangle: Rounded Corners 10"/>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endParaRPr lang="en-US">
              <a:solidFill>
                <a:srgbClr val="0070C0"/>
              </a:solidFill>
            </a:endParaRPr>
          </a:p>
          <a:p>
            <a:r>
              <a:rPr lang="en-US"/>
              <a:t>DEMO video </a:t>
            </a:r>
            <a:r>
              <a:rPr lang="en-US" err="1"/>
              <a:t>link:</a:t>
            </a:r>
            <a:r>
              <a:rPr lang="en-US" err="1">
                <a:solidFill>
                  <a:srgbClr val="0070C0"/>
                </a:solidFill>
              </a:rPr>
              <a:t>Backend</a:t>
            </a:r>
            <a:r>
              <a:rPr lang="en-US">
                <a:solidFill>
                  <a:srgbClr val="0070C0"/>
                </a:solidFill>
              </a:rPr>
              <a:t> demo.mp4</a:t>
            </a:r>
            <a:endParaRPr lang="en-US">
              <a:solidFill>
                <a:srgbClr val="0070C0"/>
              </a:solidFill>
            </a:endParaRPr>
          </a:p>
          <a:p>
            <a:r>
              <a:rPr lang="en-US" err="1"/>
              <a:t>codeDrive:</a:t>
            </a:r>
            <a:r>
              <a:rPr lang="en-US" err="1">
                <a:solidFill>
                  <a:srgbClr val="0070C0"/>
                </a:solidFill>
              </a:rPr>
              <a:t>code</a:t>
            </a:r>
            <a:endParaRPr lang="en-US">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9259</Words>
  <Application>WPS Presentation</Application>
  <PresentationFormat>Custom</PresentationFormat>
  <Paragraphs>254</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-apple-system-body</vt:lpstr>
      <vt:lpstr>Liberation Mono</vt:lpstr>
      <vt:lpstr>Aptos Display</vt:lpstr>
      <vt:lpstr>Segoe UI Variable Display</vt:lpstr>
      <vt:lpstr>Aptos</vt:lpstr>
      <vt:lpstr>Segoe UI</vt:lpstr>
      <vt:lpstr>Microsoft YaHei</vt:lpstr>
      <vt:lpstr>Arial Unicode MS</vt:lpstr>
      <vt:lpstr>Calibri</vt:lpstr>
      <vt:lpstr>ui-sans-serif</vt:lpstr>
      <vt:lpstr>Office Theme</vt:lpstr>
      <vt:lpstr>                   AI FAQ Assistant API             TEAM LEADER  : KAVIYA T                TEAM MEMBER  : 1.KAVIPRIYA K             TEAM MEMBER : 2.KAVIYA G                  TEAM MEMBER : 3.KAVIYASRI D                    TEAM MEMBER : 4.KAVIYARASI V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acer</cp:lastModifiedBy>
  <cp:revision>52</cp:revision>
  <dcterms:created xsi:type="dcterms:W3CDTF">2026-09-27T04:08:00Z</dcterms:created>
  <dcterms:modified xsi:type="dcterms:W3CDTF">2026-09-30T12:18:04Z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9EC1323761CA46AC8D46CA2D8D52448B_13</vt:lpwstr>
  </property>
</Properties>
</file>